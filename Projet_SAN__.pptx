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 panose="020F0502020204030204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 panose="020F0502020204030204"/>
              </a:defRPr>
            </a:lvl1pPr>
          </a:lstStyle>
          <a:p>
            <a:pPr lvl="0"/>
            <a:fld id="{17C6C142-DEEE-4DC6-868E-5F605CF903CF}" type="datetime1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/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 panose="020F050202020403020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 panose="020F0502020204030204"/>
              </a:defRPr>
            </a:lvl1pPr>
          </a:lstStyle>
          <a:p>
            <a:pPr lvl="0"/>
            <a:fld id="{FA872720-6E55-44A6-B5E7-21F15F3A0377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defRPr lang="en-US" sz="1200" b="0" i="0" u="none" strike="noStrike" kern="1200" cap="none" spc="0" baseline="0">
        <a:solidFill>
          <a:srgbClr val="000000"/>
        </a:solidFill>
        <a:uFillTx/>
        <a:latin typeface="Calibri" panose="020F0502020204030204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defRPr lang="en-US" sz="1200" b="0" i="0" u="none" strike="noStrike" kern="1200" cap="none" spc="0" baseline="0">
        <a:solidFill>
          <a:srgbClr val="000000"/>
        </a:solidFill>
        <a:uFillTx/>
        <a:latin typeface="Calibri" panose="020F0502020204030204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defRPr lang="en-US" sz="1200" b="0" i="0" u="none" strike="noStrike" kern="1200" cap="none" spc="0" baseline="0">
        <a:solidFill>
          <a:srgbClr val="000000"/>
        </a:solidFill>
        <a:uFillTx/>
        <a:latin typeface="Calibri" panose="020F0502020204030204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defRPr lang="en-US" sz="1200" b="0" i="0" u="none" strike="noStrike" kern="1200" cap="none" spc="0" baseline="0">
        <a:solidFill>
          <a:srgbClr val="000000"/>
        </a:solidFill>
        <a:uFillTx/>
        <a:latin typeface="Calibri" panose="020F0502020204030204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defRPr lang="en-US" sz="1200" b="0" i="0" u="none" strike="noStrike" kern="1200" cap="none" spc="0" baseline="0">
        <a:solidFill>
          <a:srgbClr val="000000"/>
        </a:solidFill>
        <a:uFillTx/>
        <a:latin typeface="Calibri" panose="020F050202020403020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/>
          <p:cNvGrpSpPr/>
          <p:nvPr/>
        </p:nvGrpSpPr>
        <p:grpSpPr>
          <a:xfrm>
            <a:off x="0" y="-8467"/>
            <a:ext cx="12192005" cy="6866467"/>
            <a:chOff x="0" y="-8467"/>
            <a:chExt cx="12192005" cy="6866467"/>
          </a:xfrm>
        </p:grpSpPr>
        <p:sp>
          <p:nvSpPr>
            <p:cNvPr id="3" name="Freeform 14"/>
            <p:cNvSpPr/>
            <p:nvPr/>
          </p:nvSpPr>
          <p:spPr>
            <a:xfrm>
              <a:off x="0" y="-7863"/>
              <a:ext cx="863595" cy="5698065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63600"/>
                <a:gd name="f4" fmla="val 5698067"/>
                <a:gd name="f5" fmla="val 8467"/>
                <a:gd name="f6" fmla="val 16934"/>
                <a:gd name="f7" fmla="*/ f0 1 863600"/>
                <a:gd name="f8" fmla="*/ f1 1 5698067"/>
                <a:gd name="f9" fmla="val f2"/>
                <a:gd name="f10" fmla="val f3"/>
                <a:gd name="f11" fmla="val f4"/>
                <a:gd name="f12" fmla="+- f11 0 f9"/>
                <a:gd name="f13" fmla="+- f10 0 f9"/>
                <a:gd name="f14" fmla="*/ f13 1 863600"/>
                <a:gd name="f15" fmla="*/ f12 1 5698067"/>
                <a:gd name="f16" fmla="*/ f9 1 f14"/>
                <a:gd name="f17" fmla="*/ f10 1 f14"/>
                <a:gd name="f18" fmla="*/ f9 1 f15"/>
                <a:gd name="f19" fmla="*/ f11 1 f15"/>
                <a:gd name="f20" fmla="*/ f16 f7 1"/>
                <a:gd name="f21" fmla="*/ f17 f7 1"/>
                <a:gd name="f22" fmla="*/ f19 f8 1"/>
                <a:gd name="f23" fmla="*/ f18 f8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0" t="f23" r="f21" b="f22"/>
              <a:pathLst>
                <a:path w="863600" h="5698067">
                  <a:moveTo>
                    <a:pt x="f2" y="f5"/>
                  </a:moveTo>
                  <a:lnTo>
                    <a:pt x="f3" y="f2"/>
                  </a:lnTo>
                  <a:lnTo>
                    <a:pt x="f3" y="f6"/>
                  </a:lnTo>
                  <a:lnTo>
                    <a:pt x="f2" y="f4"/>
                  </a:lnTo>
                  <a:lnTo>
                    <a:pt x="f2" y="f5"/>
                  </a:lnTo>
                  <a:close/>
                </a:path>
              </a:pathLst>
            </a:custGeom>
            <a:solidFill>
              <a:srgbClr val="5FCBEF">
                <a:alpha val="7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cxnSp>
          <p:nvCxnSpPr>
            <p:cNvPr id="4" name="Straight Connector 18"/>
            <p:cNvCxnSpPr/>
            <p:nvPr/>
          </p:nvCxnSpPr>
          <p:spPr>
            <a:xfrm>
              <a:off x="9371008" y="0"/>
              <a:ext cx="1219207" cy="6858000"/>
            </a:xfrm>
            <a:prstGeom prst="straightConnector1">
              <a:avLst/>
            </a:prstGeom>
            <a:noFill/>
            <a:ln w="9528" cap="rnd">
              <a:solidFill>
                <a:srgbClr val="5FCBEF">
                  <a:alpha val="70000"/>
                </a:srgbClr>
              </a:solidFill>
              <a:prstDash val="solid"/>
            </a:ln>
          </p:spPr>
        </p:cxnSp>
        <p:cxnSp>
          <p:nvCxnSpPr>
            <p:cNvPr id="5" name="Straight Connector 19"/>
            <p:cNvCxnSpPr/>
            <p:nvPr/>
          </p:nvCxnSpPr>
          <p:spPr>
            <a:xfrm flipH="1">
              <a:off x="7425266" y="3681410"/>
              <a:ext cx="4763557" cy="3176590"/>
            </a:xfrm>
            <a:prstGeom prst="straightConnector1">
              <a:avLst/>
            </a:prstGeom>
            <a:noFill/>
            <a:ln w="9528" cap="rnd">
              <a:solidFill>
                <a:srgbClr val="5FCBEF">
                  <a:alpha val="70000"/>
                </a:srgbClr>
              </a:solidFill>
              <a:prstDash val="solid"/>
            </a:ln>
          </p:spPr>
        </p:cxnSp>
        <p:sp>
          <p:nvSpPr>
            <p:cNvPr id="6" name="Rectangle 23"/>
            <p:cNvSpPr/>
            <p:nvPr/>
          </p:nvSpPr>
          <p:spPr>
            <a:xfrm>
              <a:off x="9181472" y="-8467"/>
              <a:ext cx="3007351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007349"/>
                <a:gd name="f4" fmla="val 6866467"/>
                <a:gd name="f5" fmla="val 2045532"/>
                <a:gd name="f6" fmla="*/ f0 1 3007349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3007349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3007349" h="6866467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5FCBEF">
                <a:alpha val="36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Rectangle 25"/>
            <p:cNvSpPr/>
            <p:nvPr/>
          </p:nvSpPr>
          <p:spPr>
            <a:xfrm>
              <a:off x="9603440" y="-8467"/>
              <a:ext cx="2588556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573311"/>
                <a:gd name="f4" fmla="val 6866467"/>
                <a:gd name="f5" fmla="val 1202336"/>
                <a:gd name="f6" fmla="*/ f0 1 2573311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2573311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2573311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5FCBEF">
                <a:alpha val="2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Isosceles Triangle 22"/>
            <p:cNvSpPr/>
            <p:nvPr/>
          </p:nvSpPr>
          <p:spPr>
            <a:xfrm>
              <a:off x="8932334" y="3047996"/>
              <a:ext cx="3259671" cy="3810003"/>
            </a:xfrm>
            <a:custGeom>
              <a:avLst>
                <a:gd name="f8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-1" fmla="val 10000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-1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Rectangle 27"/>
            <p:cNvSpPr/>
            <p:nvPr/>
          </p:nvSpPr>
          <p:spPr>
            <a:xfrm>
              <a:off x="9334496" y="-8467"/>
              <a:ext cx="2854327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858013"/>
                <a:gd name="f4" fmla="val 6866467"/>
                <a:gd name="f5" fmla="val 2473942"/>
                <a:gd name="f6" fmla="*/ f0 1 2858013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2858013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2858013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Rectangle 28"/>
            <p:cNvSpPr/>
            <p:nvPr/>
          </p:nvSpPr>
          <p:spPr>
            <a:xfrm>
              <a:off x="10898733" y="-8467"/>
              <a:ext cx="1290090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90094"/>
                <a:gd name="f4" fmla="val 6858000"/>
                <a:gd name="f5" fmla="val 1019735"/>
                <a:gd name="f6" fmla="*/ f0 1 1290094"/>
                <a:gd name="f7" fmla="*/ f1 1 6858000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290094"/>
                <a:gd name="f14" fmla="*/ f11 1 6858000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290094" h="6858000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2E83C3">
                <a:alpha val="7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Rectangle 29"/>
            <p:cNvSpPr/>
            <p:nvPr/>
          </p:nvSpPr>
          <p:spPr>
            <a:xfrm>
              <a:off x="10938994" y="-8467"/>
              <a:ext cx="1249829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49825"/>
                <a:gd name="f4" fmla="val 6858000"/>
                <a:gd name="f5" fmla="val 1109382"/>
                <a:gd name="f6" fmla="*/ f0 1 1249825"/>
                <a:gd name="f7" fmla="*/ f1 1 6858000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249825"/>
                <a:gd name="f14" fmla="*/ f11 1 6858000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249825" h="6858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236292">
                <a:alpha val="8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2" name="Isosceles Triangle 26"/>
            <p:cNvSpPr/>
            <p:nvPr/>
          </p:nvSpPr>
          <p:spPr>
            <a:xfrm>
              <a:off x="10371664" y="3589870"/>
              <a:ext cx="1817159" cy="3268129"/>
            </a:xfrm>
            <a:custGeom>
              <a:avLst>
                <a:gd name="f8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-1" fmla="val 10000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-1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13" name="Title 1"/>
          <p:cNvSpPr txBox="1">
            <a:spLocks noGrp="1"/>
          </p:cNvSpPr>
          <p:nvPr>
            <p:ph type="ctrTitle"/>
          </p:nvPr>
        </p:nvSpPr>
        <p:spPr>
          <a:xfrm>
            <a:off x="1507068" y="2404533"/>
            <a:ext cx="7766931" cy="1646304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" name="Subtitle 2"/>
          <p:cNvSpPr txBox="1">
            <a:spLocks noGrp="1"/>
          </p:cNvSpPr>
          <p:nvPr>
            <p:ph type="subTitle" idx="1"/>
          </p:nvPr>
        </p:nvSpPr>
        <p:spPr>
          <a:xfrm>
            <a:off x="1507068" y="4050828"/>
            <a:ext cx="7766931" cy="1096895"/>
          </a:xfrm>
        </p:spPr>
        <p:txBody>
          <a:bodyPr/>
          <a:lstStyle>
            <a:lvl1pPr marL="0" indent="0" algn="r">
              <a:buNone/>
              <a:defRPr>
                <a:solidFill>
                  <a:srgbClr val="7F7F7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B13416-99F3-4583-9936-4724E318402F}" type="datetime1">
              <a:rPr lang="fr-FR"/>
            </a:fld>
            <a:endParaRPr lang="fr-FR"/>
          </a:p>
        </p:txBody>
      </p:sp>
      <p:sp>
        <p:nvSpPr>
          <p:cNvPr id="16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1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BC6C63-C808-45B0-8156-DEA847AF1FDE}" type="slidenum">
              <a:rPr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E453C7-218E-4068-AD31-ABDBD6648CDF}" type="datetime1">
              <a:rPr lang="fr-FR"/>
            </a:fld>
            <a:endParaRPr lang="fr-FR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289DD5B-8ED1-4418-94AF-5D561A58B7F8}" type="slidenum">
              <a:rPr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2700863"/>
            <a:ext cx="8596667" cy="1826578"/>
          </a:xfrm>
        </p:spPr>
        <p:txBody>
          <a:bodyPr anchor="b"/>
          <a:lstStyle>
            <a:lvl1pPr>
              <a:defRPr sz="4000"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77332" y="4527450"/>
            <a:ext cx="8596667" cy="860395"/>
          </a:xfrm>
        </p:spPr>
        <p:txBody>
          <a:bodyPr/>
          <a:lstStyle>
            <a:lvl1pPr marL="0" indent="0">
              <a:buNone/>
              <a:defRPr sz="20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B040CA-0275-4903-8452-FB137AED01A5}" type="datetime1">
              <a:rPr lang="fr-FR"/>
            </a:fld>
            <a:endParaRPr lang="fr-FR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E0FAA55-D66B-484E-B776-D4FF10306172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677332" y="2160590"/>
            <a:ext cx="4184038" cy="388076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5089971" y="2160590"/>
            <a:ext cx="4184038" cy="388076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80BFD7-A477-46E8-96CC-B0A555698552}" type="datetime1">
              <a:rPr lang="fr-FR"/>
            </a:fld>
            <a:endParaRPr lang="fr-FR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441028-96BA-4111-85AB-657581F62C3D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75741" y="2160983"/>
            <a:ext cx="4185620" cy="576264"/>
          </a:xfrm>
        </p:spPr>
        <p:txBody>
          <a:bodyPr anchor="b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675741" y="2737247"/>
            <a:ext cx="4185620" cy="33041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5088379" y="2160983"/>
            <a:ext cx="4185620" cy="576264"/>
          </a:xfrm>
        </p:spPr>
        <p:txBody>
          <a:bodyPr anchor="b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 txBox="1">
            <a:spLocks noGrp="1"/>
          </p:cNvSpPr>
          <p:nvPr>
            <p:ph idx="4"/>
          </p:nvPr>
        </p:nvSpPr>
        <p:spPr>
          <a:xfrm>
            <a:off x="5088379" y="2737247"/>
            <a:ext cx="4185620" cy="33041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EFB0204-98D4-4416-9BFF-B4CB2FA487B1}" type="datetime1">
              <a:rPr lang="fr-FR"/>
            </a:fld>
            <a:endParaRPr lang="fr-FR"/>
          </a:p>
        </p:txBody>
      </p:sp>
      <p:sp>
        <p:nvSpPr>
          <p:cNvPr id="8" name="Footer Placeholder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Slide Number Placeholder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DB1D049-D312-4847-979E-9E17A65DBC1B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4F039B-7A33-431C-B7F1-03A6A271BA70}" type="datetime1">
              <a:rPr lang="fr-FR"/>
            </a:fld>
            <a:endParaRPr lang="fr-FR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DE0902-0443-4DFF-86BA-E13120E472CC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A6A477-EB09-4956-962F-BE111C35496C}" type="datetime1">
              <a:rPr lang="fr-FR"/>
            </a:fld>
            <a:endParaRPr lang="fr-FR"/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8BF1F7-42E9-4BD4-AC15-1C17E08E1050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1498601"/>
            <a:ext cx="3854525" cy="1278468"/>
          </a:xfrm>
        </p:spPr>
        <p:txBody>
          <a:bodyPr anchor="b"/>
          <a:lstStyle>
            <a:lvl1pPr>
              <a:defRPr sz="2000"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4760457" y="514926"/>
            <a:ext cx="4513542" cy="552643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677332" y="2777069"/>
            <a:ext cx="3854525" cy="2584451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C154CA-5B8C-4ECF-9D45-29E3D350AE9A}" type="datetime1">
              <a:rPr lang="fr-FR"/>
            </a:fld>
            <a:endParaRPr lang="fr-FR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577009-8CA9-466B-85CD-24AE62D34A0F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4800600"/>
            <a:ext cx="8596667" cy="566735"/>
          </a:xfrm>
        </p:spPr>
        <p:txBody>
          <a:bodyPr anchor="b"/>
          <a:lstStyle>
            <a:lvl1pPr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677332" y="609603"/>
            <a:ext cx="8596667" cy="3845719"/>
          </a:xfrm>
        </p:spPr>
        <p:txBody>
          <a:bodyPr anchorCtr="1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677332" y="5367335"/>
            <a:ext cx="8596667" cy="674022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802B5A-594F-413D-B8FC-F6EF5F574B44}" type="slidenum">
              <a:rPr/>
            </a:fld>
            <a:endParaRPr lang="fr-FR"/>
          </a:p>
        </p:txBody>
      </p:sp>
      <p:sp>
        <p:nvSpPr>
          <p:cNvPr id="7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00FE49-F9D1-4484-B67F-1EEFF9687849}" type="datetime1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3403597"/>
          </a:xfrm>
        </p:spPr>
        <p:txBody>
          <a:bodyPr anchor="ctr"/>
          <a:lstStyle>
            <a:lvl1pPr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77332" y="4470401"/>
            <a:ext cx="8596667" cy="157095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E0BF8B-DD92-45EC-8F83-BAB59160A6AA}" type="datetime1">
              <a:rPr lang="fr-FR"/>
            </a:fld>
            <a:endParaRPr lang="fr-FR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B9CB257-4125-4504-A816-8FD84E99B3E6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931334" y="609603"/>
            <a:ext cx="8094131" cy="3022604"/>
          </a:xfrm>
        </p:spPr>
        <p:txBody>
          <a:bodyPr anchor="ctr"/>
          <a:lstStyle>
            <a:lvl1pPr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9"/>
          <p:cNvSpPr txBox="1">
            <a:spLocks noGrp="1"/>
          </p:cNvSpPr>
          <p:nvPr>
            <p:ph type="body" idx="4294967295"/>
          </p:nvPr>
        </p:nvSpPr>
        <p:spPr>
          <a:xfrm>
            <a:off x="1366141" y="3632197"/>
            <a:ext cx="7224528" cy="381003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2"/>
          <p:cNvSpPr txBox="1">
            <a:spLocks noGrp="1"/>
          </p:cNvSpPr>
          <p:nvPr>
            <p:ph type="body" idx="9"/>
          </p:nvPr>
        </p:nvSpPr>
        <p:spPr>
          <a:xfrm>
            <a:off x="677332" y="4470401"/>
            <a:ext cx="8596667" cy="157095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4EDF72-3E7E-4B29-82D2-AA5638FD40BE}" type="datetime1">
              <a:rPr lang="fr-FR"/>
            </a:fld>
            <a:endParaRPr lang="fr-FR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599066-B59F-47B0-BD09-CB9CDDC42BDD}" type="slidenum">
              <a:rPr/>
            </a:fld>
            <a:endParaRPr lang="fr-FR"/>
          </a:p>
        </p:txBody>
      </p:sp>
      <p:sp>
        <p:nvSpPr>
          <p:cNvPr id="8" name="TextBox 23"/>
          <p:cNvSpPr txBox="1"/>
          <p:nvPr/>
        </p:nvSpPr>
        <p:spPr>
          <a:xfrm>
            <a:off x="541873" y="790379"/>
            <a:ext cx="609603" cy="584777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9FE0F5"/>
                </a:solidFill>
                <a:uFillTx/>
                <a:latin typeface="Arial" panose="020B0604020202020204"/>
              </a:rPr>
              <a:t>“</a:t>
            </a:r>
            <a:endParaRPr lang="en-US" sz="8000" b="0" i="0" u="none" strike="noStrike" kern="1200" cap="none" spc="0" baseline="0">
              <a:solidFill>
                <a:srgbClr val="9FE0F5"/>
              </a:solidFill>
              <a:uFillTx/>
              <a:latin typeface="Arial" panose="020B0604020202020204"/>
            </a:endParaRPr>
          </a:p>
        </p:txBody>
      </p:sp>
      <p:sp>
        <p:nvSpPr>
          <p:cNvPr id="9" name="TextBox 24"/>
          <p:cNvSpPr txBox="1"/>
          <p:nvPr/>
        </p:nvSpPr>
        <p:spPr>
          <a:xfrm>
            <a:off x="8893015" y="2886559"/>
            <a:ext cx="609603" cy="584777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9FE0F5"/>
                </a:solidFill>
                <a:uFillTx/>
                <a:latin typeface="Arial" panose="020B0604020202020204"/>
              </a:rPr>
              <a:t>”</a:t>
            </a:r>
            <a:endParaRPr lang="en-US" sz="8000" b="0" i="0" u="none" strike="noStrike" kern="1200" cap="none" spc="0" baseline="0">
              <a:solidFill>
                <a:srgbClr val="9FE0F5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77332" y="1931990"/>
            <a:ext cx="8596667" cy="2595460"/>
          </a:xfrm>
        </p:spPr>
        <p:txBody>
          <a:bodyPr anchor="b"/>
          <a:lstStyle>
            <a:lvl1pPr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77332" y="4527450"/>
            <a:ext cx="8596667" cy="15139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8F377F8-C913-4714-83E2-C6D32703817C}" type="datetime1">
              <a:rPr lang="fr-FR"/>
            </a:fld>
            <a:endParaRPr lang="fr-FR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1F8EE0A-AE0B-4B3B-816C-1A614627D308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931334" y="609603"/>
            <a:ext cx="8094131" cy="3022604"/>
          </a:xfrm>
        </p:spPr>
        <p:txBody>
          <a:bodyPr anchor="ctr"/>
          <a:lstStyle>
            <a:lvl1pPr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9"/>
          <p:cNvSpPr txBox="1">
            <a:spLocks noGrp="1"/>
          </p:cNvSpPr>
          <p:nvPr>
            <p:ph type="body" idx="4294967295"/>
          </p:nvPr>
        </p:nvSpPr>
        <p:spPr>
          <a:xfrm>
            <a:off x="677332" y="4013201"/>
            <a:ext cx="8596667" cy="514249"/>
          </a:xfrm>
        </p:spPr>
        <p:txBody>
          <a:bodyPr anchor="b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2"/>
          <p:cNvSpPr txBox="1">
            <a:spLocks noGrp="1"/>
          </p:cNvSpPr>
          <p:nvPr>
            <p:ph type="body" idx="9"/>
          </p:nvPr>
        </p:nvSpPr>
        <p:spPr>
          <a:xfrm>
            <a:off x="677332" y="4527450"/>
            <a:ext cx="8596667" cy="1513917"/>
          </a:xfrm>
        </p:spPr>
        <p:txBody>
          <a:bodyPr/>
          <a:lstStyle>
            <a:lvl1pPr marL="0" indent="0">
              <a:buNone/>
              <a:defRPr>
                <a:solidFill>
                  <a:srgbClr val="7F7F7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EC85E9-FAC5-40E3-94A3-BCC0A4D46B68}" type="datetime1">
              <a:rPr lang="fr-FR"/>
            </a:fld>
            <a:endParaRPr lang="fr-FR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A532EE-9644-486D-B6FE-0ACB7701B94D}" type="slidenum">
              <a:rPr/>
            </a:fld>
            <a:endParaRPr lang="fr-FR"/>
          </a:p>
        </p:txBody>
      </p:sp>
      <p:sp>
        <p:nvSpPr>
          <p:cNvPr id="8" name="TextBox 23"/>
          <p:cNvSpPr txBox="1"/>
          <p:nvPr/>
        </p:nvSpPr>
        <p:spPr>
          <a:xfrm>
            <a:off x="541873" y="790379"/>
            <a:ext cx="609603" cy="584777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9FE0F5"/>
                </a:solidFill>
                <a:uFillTx/>
                <a:latin typeface="Arial" panose="020B0604020202020204"/>
              </a:rPr>
              <a:t>“</a:t>
            </a:r>
            <a:endParaRPr lang="en-US" sz="8000" b="0" i="0" u="none" strike="noStrike" kern="1200" cap="none" spc="0" baseline="0">
              <a:solidFill>
                <a:srgbClr val="9FE0F5"/>
              </a:solidFill>
              <a:uFillTx/>
              <a:latin typeface="Arial" panose="020B0604020202020204"/>
            </a:endParaRPr>
          </a:p>
        </p:txBody>
      </p:sp>
      <p:sp>
        <p:nvSpPr>
          <p:cNvPr id="9" name="TextBox 24"/>
          <p:cNvSpPr txBox="1"/>
          <p:nvPr/>
        </p:nvSpPr>
        <p:spPr>
          <a:xfrm>
            <a:off x="8893015" y="2886559"/>
            <a:ext cx="609603" cy="584777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9FE0F5"/>
                </a:solidFill>
                <a:uFillTx/>
                <a:latin typeface="Arial" panose="020B0604020202020204"/>
              </a:rPr>
              <a:t>”</a:t>
            </a:r>
            <a:endParaRPr lang="en-US" sz="8000" b="0" i="0" u="none" strike="noStrike" kern="1200" cap="none" spc="0" baseline="0">
              <a:solidFill>
                <a:srgbClr val="9FE0F5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85800" y="609603"/>
            <a:ext cx="8588200" cy="3022604"/>
          </a:xfrm>
        </p:spPr>
        <p:txBody>
          <a:bodyPr anchor="ctr"/>
          <a:lstStyle>
            <a:lvl1pPr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9"/>
          <p:cNvSpPr txBox="1">
            <a:spLocks noGrp="1"/>
          </p:cNvSpPr>
          <p:nvPr>
            <p:ph type="body" idx="4294967295"/>
          </p:nvPr>
        </p:nvSpPr>
        <p:spPr>
          <a:xfrm>
            <a:off x="677332" y="4013201"/>
            <a:ext cx="8596667" cy="514249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rgbClr val="5FCBE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2"/>
          <p:cNvSpPr txBox="1">
            <a:spLocks noGrp="1"/>
          </p:cNvSpPr>
          <p:nvPr>
            <p:ph type="body" idx="9"/>
          </p:nvPr>
        </p:nvSpPr>
        <p:spPr>
          <a:xfrm>
            <a:off x="677332" y="4527450"/>
            <a:ext cx="8596667" cy="1513917"/>
          </a:xfrm>
        </p:spPr>
        <p:txBody>
          <a:bodyPr/>
          <a:lstStyle>
            <a:lvl1pPr marL="0" indent="0">
              <a:buNone/>
              <a:defRPr>
                <a:solidFill>
                  <a:srgbClr val="7F7F7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215D4C-8633-49C2-A2C0-C65517C7138A}" type="datetime1">
              <a:rPr lang="fr-FR"/>
            </a:fld>
            <a:endParaRPr lang="fr-FR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F6B7AC-290D-4E39-9BC7-17FB6A75A21E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D51E5D-6C34-464B-B00D-A4068D5B082B}" type="datetime1">
              <a:rPr lang="fr-FR"/>
            </a:fld>
            <a:endParaRPr lang="fr-FR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B3D59A-8A64-428F-8DA5-E1BB2C38C08C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7967670" y="609603"/>
            <a:ext cx="1304739" cy="5251454"/>
          </a:xfrm>
        </p:spPr>
        <p:txBody>
          <a:bodyPr vert="eaVert" anchor="ctr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677332" y="609603"/>
            <a:ext cx="7060146" cy="525145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D6A4FB-E3FB-4200-BD73-F9929B45B625}" type="datetime1">
              <a:rPr lang="fr-FR"/>
            </a:fld>
            <a:endParaRPr lang="fr-FR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1197B3C-E92C-4967-95CF-AD21257220F5}" type="slidenum">
              <a:rPr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3"/>
          <p:cNvGrpSpPr/>
          <p:nvPr/>
        </p:nvGrpSpPr>
        <p:grpSpPr>
          <a:xfrm>
            <a:off x="0" y="-8467"/>
            <a:ext cx="12192005" cy="6866467"/>
            <a:chOff x="0" y="-8467"/>
            <a:chExt cx="12192005" cy="6866467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1008" y="0"/>
              <a:ext cx="1219207" cy="6858000"/>
            </a:xfrm>
            <a:prstGeom prst="straightConnector1">
              <a:avLst/>
            </a:prstGeom>
            <a:noFill/>
            <a:ln w="9528" cap="rnd">
              <a:solidFill>
                <a:srgbClr val="5FCBEF">
                  <a:alpha val="70000"/>
                </a:srgbClr>
              </a:solidFill>
              <a:prstDash val="solid"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266" y="3681410"/>
              <a:ext cx="4763557" cy="3176590"/>
            </a:xfrm>
            <a:prstGeom prst="straightConnector1">
              <a:avLst/>
            </a:prstGeom>
            <a:noFill/>
            <a:ln w="9528" cap="rnd">
              <a:solidFill>
                <a:srgbClr val="5FCBEF">
                  <a:alpha val="70000"/>
                </a:srgbClr>
              </a:solidFill>
              <a:prstDash val="solid"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72" y="-8467"/>
              <a:ext cx="3007351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007349"/>
                <a:gd name="f4" fmla="val 6866467"/>
                <a:gd name="f5" fmla="val 2045532"/>
                <a:gd name="f6" fmla="*/ f0 1 3007349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3007349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3007349" h="6866467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5FCBEF">
                <a:alpha val="36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440" y="-8467"/>
              <a:ext cx="2588556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573311"/>
                <a:gd name="f4" fmla="val 6866467"/>
                <a:gd name="f5" fmla="val 1202336"/>
                <a:gd name="f6" fmla="*/ f0 1 2573311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2573311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2573311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5FCBEF">
                <a:alpha val="2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34" y="3047996"/>
              <a:ext cx="3259671" cy="3810003"/>
            </a:xfrm>
            <a:custGeom>
              <a:avLst>
                <a:gd name="f8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-1" fmla="val 10000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-1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96" y="-8467"/>
              <a:ext cx="2854327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858013"/>
                <a:gd name="f4" fmla="val 6866467"/>
                <a:gd name="f5" fmla="val 2473942"/>
                <a:gd name="f6" fmla="*/ f0 1 2858013"/>
                <a:gd name="f7" fmla="*/ f1 1 6866467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2858013"/>
                <a:gd name="f14" fmla="*/ f11 1 6866467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2858013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733" y="-8467"/>
              <a:ext cx="1290090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90094"/>
                <a:gd name="f4" fmla="val 6858000"/>
                <a:gd name="f5" fmla="val 1019735"/>
                <a:gd name="f6" fmla="*/ f0 1 1290094"/>
                <a:gd name="f7" fmla="*/ f1 1 6858000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290094"/>
                <a:gd name="f14" fmla="*/ f11 1 6858000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290094" h="6858000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2E83C3">
                <a:alpha val="7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94" y="-8467"/>
              <a:ext cx="1249829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49825"/>
                <a:gd name="f4" fmla="val 6858000"/>
                <a:gd name="f5" fmla="val 1109382"/>
                <a:gd name="f6" fmla="*/ f0 1 1249825"/>
                <a:gd name="f7" fmla="*/ f1 1 6858000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249825"/>
                <a:gd name="f14" fmla="*/ f11 1 6858000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249825" h="6858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236292">
                <a:alpha val="8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64" y="3589870"/>
              <a:ext cx="1817159" cy="3268129"/>
            </a:xfrm>
            <a:custGeom>
              <a:avLst>
                <a:gd name="f8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-1" fmla="val 10000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-1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2" name="Isosceles Triangle 18"/>
            <p:cNvSpPr/>
            <p:nvPr/>
          </p:nvSpPr>
          <p:spPr>
            <a:xfrm>
              <a:off x="0" y="4013201"/>
              <a:ext cx="448732" cy="2844798"/>
            </a:xfrm>
            <a:custGeom>
              <a:avLst>
                <a:gd name="f8" fmla="val 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-1" fmla="val 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-1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5FCBEF">
                <a:alpha val="7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13" name="Title Placeholder 1"/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13207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" name="Text Placeholder 2"/>
          <p:cNvSpPr txBox="1">
            <a:spLocks noGrp="1"/>
          </p:cNvSpPr>
          <p:nvPr>
            <p:ph type="body" idx="1"/>
          </p:nvPr>
        </p:nvSpPr>
        <p:spPr>
          <a:xfrm>
            <a:off x="677332" y="2160590"/>
            <a:ext cx="8596667" cy="38807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5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7205133" y="6041358"/>
            <a:ext cx="91194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900" b="0" i="0" u="none" strike="noStrike" kern="1200" cap="none" spc="0" baseline="0">
                <a:solidFill>
                  <a:srgbClr val="898989"/>
                </a:solidFill>
                <a:uFillTx/>
                <a:latin typeface="Trebuchet MS" panose="020B0603020202020204"/>
              </a:defRPr>
            </a:lvl1pPr>
          </a:lstStyle>
          <a:p>
            <a:pPr lvl="0"/>
            <a:fld id="{477E6D62-2411-47DC-A86A-F29847E8E66B}" type="datetime1">
              <a:rPr lang="fr-FR"/>
            </a:fld>
            <a:endParaRPr lang="fr-FR"/>
          </a:p>
        </p:txBody>
      </p:sp>
      <p:sp>
        <p:nvSpPr>
          <p:cNvPr id="16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677332" y="6041358"/>
            <a:ext cx="6297609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900" b="0" i="0" u="none" strike="noStrike" kern="1200" cap="none" spc="0" baseline="0">
                <a:solidFill>
                  <a:srgbClr val="898989"/>
                </a:solidFill>
                <a:uFillTx/>
                <a:latin typeface="Trebuchet MS" panose="020B0603020202020204"/>
              </a:defRPr>
            </a:lvl1pPr>
          </a:lstStyle>
          <a:p>
            <a:pPr lvl="0"/>
            <a:endParaRPr lang="fr-FR"/>
          </a:p>
        </p:txBody>
      </p:sp>
      <p:sp>
        <p:nvSpPr>
          <p:cNvPr id="1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90659" y="6041358"/>
            <a:ext cx="68334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900" b="0" i="0" u="none" strike="noStrike" kern="1200" cap="none" spc="0" baseline="0">
                <a:solidFill>
                  <a:srgbClr val="5FCBEF"/>
                </a:solidFill>
                <a:uFillTx/>
                <a:latin typeface="Trebuchet MS" panose="020B0603020202020204"/>
              </a:defRPr>
            </a:lvl1pPr>
          </a:lstStyle>
          <a:p>
            <a:pPr lvl="0"/>
            <a:fld id="{F6123584-BA89-4BF0-A438-BB592116BAC1}" type="slidenum">
              <a:rPr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marL="0" marR="0" lvl="0" indent="0" algn="l" defTabSz="4572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lang="en-US" sz="3600" b="0" i="0" u="none" strike="noStrike" kern="1200" cap="none" spc="0" baseline="0">
          <a:solidFill>
            <a:srgbClr val="5FCBEF"/>
          </a:solidFill>
          <a:uFillTx/>
          <a:latin typeface="Trebuchet MS" panose="020B0603020202020204"/>
        </a:defRPr>
      </a:lvl1pPr>
    </p:titleStyle>
    <p:bodyStyle>
      <a:lvl1pPr marL="342900" marR="0" lvl="0" indent="-3429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5FCBEF"/>
        </a:buClr>
        <a:buSzPct val="80000"/>
        <a:buFont typeface="Wingdings 3" panose="05040102010807070707"/>
        <a:buChar char=""/>
        <a:defRPr lang="en-US" sz="1800" b="0" i="0" u="none" strike="noStrike" kern="1200" cap="none" spc="0" baseline="0">
          <a:solidFill>
            <a:srgbClr val="404040"/>
          </a:solidFill>
          <a:uFillTx/>
          <a:latin typeface="Trebuchet MS" panose="020B0603020202020204"/>
        </a:defRPr>
      </a:lvl1pPr>
      <a:lvl2pPr marL="742950" marR="0" lvl="1" indent="-28575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5FCBEF"/>
        </a:buClr>
        <a:buSzPct val="80000"/>
        <a:buFont typeface="Wingdings 3" panose="05040102010807070707"/>
        <a:buChar char=""/>
        <a:defRPr lang="en-US" sz="1600" b="0" i="0" u="none" strike="noStrike" kern="1200" cap="none" spc="0" baseline="0">
          <a:solidFill>
            <a:srgbClr val="404040"/>
          </a:solidFill>
          <a:uFillTx/>
          <a:latin typeface="Trebuchet MS" panose="020B0603020202020204"/>
        </a:defRPr>
      </a:lvl2pPr>
      <a:lvl3pPr marL="1143000" marR="0" lvl="2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5FCBEF"/>
        </a:buClr>
        <a:buSzPct val="80000"/>
        <a:buFont typeface="Wingdings 3" panose="05040102010807070707"/>
        <a:buChar char=""/>
        <a:defRPr lang="en-US" sz="1400" b="0" i="0" u="none" strike="noStrike" kern="1200" cap="none" spc="0" baseline="0">
          <a:solidFill>
            <a:srgbClr val="404040"/>
          </a:solidFill>
          <a:uFillTx/>
          <a:latin typeface="Trebuchet MS" panose="020B0603020202020204"/>
        </a:defRPr>
      </a:lvl3pPr>
      <a:lvl4pPr marL="1600200" marR="0" lvl="3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5FCBEF"/>
        </a:buClr>
        <a:buSzPct val="80000"/>
        <a:buFont typeface="Wingdings 3" panose="05040102010807070707"/>
        <a:buChar char=""/>
        <a:defRPr lang="en-US" sz="1200" b="0" i="0" u="none" strike="noStrike" kern="1200" cap="none" spc="0" baseline="0">
          <a:solidFill>
            <a:srgbClr val="404040"/>
          </a:solidFill>
          <a:uFillTx/>
          <a:latin typeface="Trebuchet MS" panose="020B0603020202020204"/>
        </a:defRPr>
      </a:lvl4pPr>
      <a:lvl5pPr marL="2057400" marR="0" lvl="4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5FCBEF"/>
        </a:buClr>
        <a:buSzPct val="80000"/>
        <a:buFont typeface="Wingdings 3" panose="05040102010807070707"/>
        <a:buChar char=""/>
        <a:defRPr lang="en-US" sz="1200" b="0" i="0" u="none" strike="noStrike" kern="1200" cap="none" spc="0" baseline="0">
          <a:solidFill>
            <a:srgbClr val="404040"/>
          </a:solidFill>
          <a:uFillTx/>
          <a:latin typeface="Trebuchet MS" panose="020B060302020202020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0" y="63843"/>
            <a:ext cx="5995985" cy="830997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Arial Black" panose="020B0A04020102020204" pitchFamily="34"/>
              </a:rPr>
              <a:t>Signal à classifier : affichage temporel et fréquentiel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rial Black" panose="020B0A04020102020204" pitchFamily="34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4361" y="421977"/>
            <a:ext cx="7066218" cy="3441335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4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50" y="3620073"/>
            <a:ext cx="7066218" cy="3322417"/>
          </a:xfrm>
          <a:prstGeom prst="rect">
            <a:avLst/>
          </a:prstGeom>
          <a:noFill/>
          <a:ln cap="rnd">
            <a:noFill/>
          </a:ln>
        </p:spPr>
      </p:pic>
      <p:sp>
        <p:nvSpPr>
          <p:cNvPr id="5" name="TextBox 10"/>
          <p:cNvSpPr txBox="1"/>
          <p:nvPr/>
        </p:nvSpPr>
        <p:spPr>
          <a:xfrm>
            <a:off x="1046027" y="5026804"/>
            <a:ext cx="2997330" cy="400114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/>
              <a:buChar char="Ø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174261"/>
                </a:solidFill>
                <a:uFillTx/>
                <a:latin typeface="Trebuchet MS" panose="020B0603020202020204"/>
              </a:rPr>
              <a:t>Domaine fréquentiel:</a:t>
            </a:r>
            <a:endParaRPr lang="en-US" sz="2000" b="0" i="0" u="none" strike="noStrike" kern="1200" cap="none" spc="0" baseline="0">
              <a:solidFill>
                <a:srgbClr val="174261"/>
              </a:solidFill>
              <a:uFillTx/>
              <a:latin typeface="Trebuchet MS" panose="020B0603020202020204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046027" y="1422778"/>
            <a:ext cx="2997330" cy="400114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/>
              <a:buChar char="Ø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174261"/>
                </a:solidFill>
                <a:uFillTx/>
                <a:latin typeface="Trebuchet MS" panose="020B0603020202020204"/>
              </a:rPr>
              <a:t>Domaine temporel:</a:t>
            </a:r>
            <a:endParaRPr lang="en-US" sz="2000" b="0" i="0" u="none" strike="noStrike" kern="1200" cap="none" spc="0" baseline="0">
              <a:solidFill>
                <a:srgbClr val="174261"/>
              </a:solidFill>
              <a:uFillTx/>
              <a:latin typeface="Trebuchet MS" panose="020B0603020202020204"/>
            </a:endParaRPr>
          </a:p>
        </p:txBody>
      </p:sp>
      <p:sp>
        <p:nvSpPr>
          <p:cNvPr id="7" name="TextBox 12"/>
          <p:cNvSpPr txBox="1"/>
          <p:nvPr/>
        </p:nvSpPr>
        <p:spPr>
          <a:xfrm>
            <a:off x="1877089" y="1888126"/>
            <a:ext cx="2771774" cy="369335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lgerian" panose="04020705040A02060702" pitchFamily="82"/>
                <a:cs typeface="Aldhabi" panose="01000000000000000000" pitchFamily="2"/>
              </a:rPr>
              <a:t>T=0.009s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lgerian" panose="04020705040A02060702" pitchFamily="82"/>
              <a:cs typeface="Aldhabi" panose="01000000000000000000" pitchFamily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/>
          <p:cNvSpPr txBox="1"/>
          <p:nvPr/>
        </p:nvSpPr>
        <p:spPr>
          <a:xfrm>
            <a:off x="1605530" y="51755"/>
            <a:ext cx="8443917" cy="461662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Spectres des voyelles de la base d’apprentissage:</a:t>
            </a:r>
            <a:endParaRPr lang="en-US" sz="2400" b="1" i="0" u="none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</p:txBody>
      </p:sp>
      <p:pic>
        <p:nvPicPr>
          <p:cNvPr id="3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6334"/>
            <a:ext cx="5968179" cy="2044753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4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" y="2689369"/>
            <a:ext cx="5968179" cy="2061066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5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415" y="646334"/>
            <a:ext cx="5903640" cy="2044753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6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415" y="2704575"/>
            <a:ext cx="5903640" cy="2029538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7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2166" y="4734113"/>
            <a:ext cx="6192015" cy="2117613"/>
          </a:xfrm>
          <a:prstGeom prst="rect">
            <a:avLst/>
          </a:prstGeom>
          <a:noFill/>
          <a:ln cap="rnd">
            <a:noFill/>
          </a:ln>
        </p:spPr>
      </p:pic>
      <p:sp>
        <p:nvSpPr>
          <p:cNvPr id="8" name="Oval 25"/>
          <p:cNvSpPr/>
          <p:nvPr/>
        </p:nvSpPr>
        <p:spPr>
          <a:xfrm>
            <a:off x="10125644" y="1187330"/>
            <a:ext cx="1475806" cy="77152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AF6D9"/>
          </a:solidFill>
          <a:ln w="19046" cap="rnd">
            <a:solidFill>
              <a:srgbClr val="96D14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Trebuchet MS" panose="020B0603020202020204"/>
              </a:rPr>
              <a:t>Voyelle </a:t>
            </a:r>
            <a:r>
              <a:rPr lang="fr-FR" sz="2000" b="1" i="0" u="none" strike="noStrike" kern="1200" cap="none" spc="0" baseline="0" dirty="0">
                <a:solidFill>
                  <a:srgbClr val="000000"/>
                </a:solidFill>
                <a:uFillTx/>
                <a:latin typeface="Trebuchet MS" panose="020B0603020202020204"/>
              </a:rPr>
              <a:t>i</a:t>
            </a:r>
            <a:endParaRPr lang="en-US" sz="2000" b="1" i="0" u="none" strike="noStrike" kern="1200" cap="none" spc="0" baseline="0" dirty="0">
              <a:solidFill>
                <a:srgbClr val="000000"/>
              </a:solidFill>
              <a:uFillTx/>
              <a:latin typeface="Trebuchet MS" panose="020B0603020202020204"/>
            </a:endParaRPr>
          </a:p>
        </p:txBody>
      </p:sp>
      <p:sp>
        <p:nvSpPr>
          <p:cNvPr id="9" name="Oval 26"/>
          <p:cNvSpPr/>
          <p:nvPr/>
        </p:nvSpPr>
        <p:spPr>
          <a:xfrm>
            <a:off x="4248146" y="1187330"/>
            <a:ext cx="1409704" cy="774551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AF6D9"/>
          </a:solidFill>
          <a:ln w="19046" cap="rnd">
            <a:solidFill>
              <a:srgbClr val="96D14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Voyelle </a:t>
            </a:r>
            <a:r>
              <a:rPr lang="fr-FR" sz="2000" b="1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a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</p:txBody>
      </p:sp>
      <p:sp>
        <p:nvSpPr>
          <p:cNvPr id="10" name="Oval 27"/>
          <p:cNvSpPr/>
          <p:nvPr/>
        </p:nvSpPr>
        <p:spPr>
          <a:xfrm>
            <a:off x="4248146" y="3216868"/>
            <a:ext cx="1409704" cy="77152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AF6D9"/>
          </a:solidFill>
          <a:ln w="19046" cap="rnd">
            <a:solidFill>
              <a:srgbClr val="96D14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Voyelle </a:t>
            </a:r>
            <a:r>
              <a:rPr lang="fr-FR" sz="2000" b="1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e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</p:txBody>
      </p:sp>
      <p:sp>
        <p:nvSpPr>
          <p:cNvPr id="11" name="Oval 28"/>
          <p:cNvSpPr/>
          <p:nvPr/>
        </p:nvSpPr>
        <p:spPr>
          <a:xfrm>
            <a:off x="10125644" y="3216868"/>
            <a:ext cx="1333698" cy="77152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AF6D9"/>
          </a:solidFill>
          <a:ln w="19046" cap="rnd">
            <a:solidFill>
              <a:srgbClr val="96D14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Trebuchet MS" panose="020B0603020202020204"/>
              </a:rPr>
              <a:t>Voyelle </a:t>
            </a:r>
            <a:r>
              <a:rPr lang="fr-FR" sz="2000" b="1" i="0" u="none" strike="noStrike" kern="1200" cap="none" spc="0" baseline="0" dirty="0">
                <a:solidFill>
                  <a:srgbClr val="000000"/>
                </a:solidFill>
                <a:uFillTx/>
                <a:latin typeface="Trebuchet MS" panose="020B0603020202020204"/>
              </a:rPr>
              <a:t>o</a:t>
            </a:r>
            <a:endParaRPr lang="en-US" sz="2000" b="1" i="0" u="none" strike="noStrike" kern="1200" cap="none" spc="0" baseline="0" dirty="0">
              <a:solidFill>
                <a:srgbClr val="000000"/>
              </a:solidFill>
              <a:uFillTx/>
              <a:latin typeface="Trebuchet MS" panose="020B0603020202020204"/>
            </a:endParaRPr>
          </a:p>
        </p:txBody>
      </p:sp>
      <p:sp>
        <p:nvSpPr>
          <p:cNvPr id="12" name="Oval 29"/>
          <p:cNvSpPr/>
          <p:nvPr/>
        </p:nvSpPr>
        <p:spPr>
          <a:xfrm>
            <a:off x="7224710" y="5157788"/>
            <a:ext cx="1447803" cy="82391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AF6D9"/>
          </a:solidFill>
          <a:ln w="19046" cap="rnd">
            <a:solidFill>
              <a:srgbClr val="96D14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Trebuchet MS" panose="020B0603020202020204"/>
              </a:rPr>
              <a:t>Voyelle </a:t>
            </a:r>
            <a:r>
              <a:rPr lang="fr-FR" sz="2000" b="1" i="0" u="none" strike="noStrike" kern="1200" cap="none" spc="0" baseline="0" dirty="0">
                <a:solidFill>
                  <a:srgbClr val="000000"/>
                </a:solidFill>
                <a:uFillTx/>
                <a:latin typeface="Trebuchet MS" panose="020B0603020202020204"/>
              </a:rPr>
              <a:t>u</a:t>
            </a:r>
            <a:endParaRPr lang="en-US" sz="2000" b="1" i="0" u="none" strike="noStrike" kern="1200" cap="none" spc="0" baseline="0" dirty="0">
              <a:solidFill>
                <a:srgbClr val="000000"/>
              </a:solidFill>
              <a:uFillTx/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8764" y="67268"/>
            <a:ext cx="1014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x-none" sz="2400" b="1" baseline="0" dirty="0">
                <a:latin typeface="Sitka Small Semibold" pitchFamily="2" charset="0"/>
              </a:rPr>
              <a:t>Présentation de la stratégie de classification mise en œuvre :</a:t>
            </a:r>
            <a:endParaRPr lang="fr-FR" altLang="x-none" sz="2400" b="1" baseline="0" dirty="0">
              <a:latin typeface="Sitka Small Semibold" pitchFamily="2" charset="0"/>
            </a:endParaRPr>
          </a:p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8594" y="647328"/>
            <a:ext cx="3500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i="0" dirty="0">
                <a:effectLst/>
                <a:latin typeface="Consolas" panose="020B0609020204030204" pitchFamily="49" charset="0"/>
              </a:rPr>
              <a:t>Vecteurs moyens (en amplitude normalisée):</a:t>
            </a:r>
            <a:endParaRPr lang="en-US" b="1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4064004" y="748441"/>
          <a:ext cx="8127996" cy="279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100" dirty="0"/>
                        <a:t>Voyelles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H11</a:t>
                      </a:r>
                      <a:endParaRPr lang="en-US" dirty="0"/>
                    </a:p>
                  </a:txBody>
                  <a:tcPr/>
                </a:tc>
              </a:tr>
              <a:tr h="294958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0.9574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0.7411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0.1937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0.3115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0.2604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0.4755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0.3252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0.2744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0.1880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0.1296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0.2422</a:t>
                      </a:r>
                      <a:endParaRPr lang="en-US" sz="1200" dirty="0"/>
                    </a:p>
                  </a:txBody>
                  <a:tcPr/>
                </a:tc>
              </a:tr>
              <a:tr h="178435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0.8302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0.8281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0.2948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0.5563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0.0962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0.0468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0.0391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0.0360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0.0202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0.0326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0.0319</a:t>
                      </a:r>
                      <a:endParaRPr lang="en-US" sz="1200" dirty="0"/>
                    </a:p>
                  </a:txBody>
                  <a:tcPr/>
                </a:tc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i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0.9189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0.7038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0.0766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0.0142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0.0042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0.0038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0.0009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0.0006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0.0008</a:t>
                      </a:r>
                      <a:endParaRPr lang="en-US" sz="1200" dirty="0"/>
                    </a:p>
                  </a:txBody>
                  <a:tcPr/>
                </a:tc>
              </a:tr>
              <a:tr h="158433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0.5779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0.8824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0.8170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0.2250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0.0502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0.0563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0.0111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0.0042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0.0014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u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0.9928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0.6291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0.0650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0.0135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0.0071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0.0037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0.0028</a:t>
                      </a:r>
                      <a:endParaRPr lang="en-US" sz="1200" dirty="0"/>
                    </a:p>
                  </a:txBody>
                  <a:tcPr/>
                </a:tc>
              </a:tr>
              <a:tr h="351126">
                <a:tc>
                  <a:txBody>
                    <a:bodyPr/>
                    <a:lstStyle/>
                    <a:p>
                      <a:r>
                        <a:rPr lang="en-US" sz="11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Vecteur du signal_4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0.7911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0.3195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0.4099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0.5677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0.6023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0.2707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0.2177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0.2057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0.2639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0.1251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1456888"/>
            <a:ext cx="3885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x-none" sz="1600" b="1" baseline="0" dirty="0">
                <a:solidFill>
                  <a:srgbClr val="215828"/>
                </a:solidFill>
                <a:latin typeface="Sitka Small Semibold" pitchFamily="2" charset="0"/>
              </a:rPr>
              <a:t>Choix du nombre d’harmoniques:</a:t>
            </a:r>
            <a:endParaRPr lang="en-US" sz="1600" dirty="0">
              <a:latin typeface="Sitka Small Semibold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594" y="1842611"/>
            <a:ext cx="38854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655" indent="-285750" defTabSz="457200" hangingPunct="1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  <a:tab pos="10134600" algn="l"/>
                <a:tab pos="10858500" algn="l"/>
                <a:tab pos="11582400" algn="l"/>
              </a:tabLst>
            </a:pPr>
            <a:r>
              <a:rPr lang="fr-FR" altLang="x-none" sz="1600" baseline="0" dirty="0">
                <a:latin typeface="Trebuchet MS" panose="020B0603020202020204" charset="0"/>
              </a:rPr>
              <a:t>Les 11 premières harmoniques contiennent l’essentiel de l’information discriminante entre les voyelles.</a:t>
            </a:r>
            <a:endParaRPr lang="fr-FR" altLang="x-none" sz="1600" baseline="0" dirty="0">
              <a:latin typeface="Trebuchet MS" panose="020B0603020202020204" charset="0"/>
            </a:endParaRPr>
          </a:p>
          <a:p>
            <a:pPr marL="287655" indent="-285750" defTabSz="457200" hangingPunct="1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  <a:tab pos="10134600" algn="l"/>
                <a:tab pos="10858500" algn="l"/>
                <a:tab pos="11582400" algn="l"/>
              </a:tabLst>
            </a:pPr>
            <a:r>
              <a:rPr lang="fr-FR" altLang="x-none" sz="1600" baseline="0" dirty="0">
                <a:latin typeface="Trebuchet MS" panose="020B0603020202020204" charset="0"/>
              </a:rPr>
              <a:t>Au-delà de la 11ᵉ harmonique, l’énergie devient très faible → forte sensibilité au bruit.</a:t>
            </a:r>
            <a:endParaRPr lang="fr-FR" altLang="x-none" sz="1600" baseline="0" dirty="0">
              <a:latin typeface="Trebuchet MS" panose="020B06030202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594" y="3666623"/>
            <a:ext cx="61507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x-none" sz="1600" baseline="0" dirty="0">
                <a:latin typeface="Trebuchet MS" panose="020B0603020202020204" charset="0"/>
              </a:rPr>
              <a:t>Garder 11 harmoniques permet un compromis optimal entre:</a:t>
            </a:r>
            <a:endParaRPr lang="en-US" sz="1600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29363" y="3658493"/>
            <a:ext cx="53149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69595" defTabSz="457200" hangingPunct="1">
              <a:lnSpc>
                <a:spcPct val="100000"/>
              </a:lnSpc>
              <a:buSzPct val="100000"/>
              <a:buFont typeface="Courier New" panose="02070309020205020404" pitchFamily="49" charset="0"/>
              <a:buChar char="o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fr-FR" altLang="x-none" sz="1600" baseline="0" dirty="0">
                <a:latin typeface="Trebuchet MS" panose="020B0603020202020204" charset="0"/>
              </a:rPr>
              <a:t>richesse fréquentielle,</a:t>
            </a:r>
            <a:endParaRPr lang="fr-FR" altLang="x-none" sz="1600" baseline="0" dirty="0">
              <a:latin typeface="Trebuchet MS" panose="020B0603020202020204" charset="0"/>
            </a:endParaRPr>
          </a:p>
          <a:p>
            <a:pPr marL="571500" indent="-569595" defTabSz="457200" hangingPunct="1">
              <a:lnSpc>
                <a:spcPct val="100000"/>
              </a:lnSpc>
              <a:buSzPct val="100000"/>
              <a:buFont typeface="Courier New" panose="02070309020205020404" pitchFamily="49" charset="0"/>
              <a:buChar char="o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fr-FR" altLang="x-none" sz="1600" baseline="0" dirty="0">
                <a:latin typeface="Trebuchet MS" panose="020B0603020202020204" charset="0"/>
              </a:rPr>
              <a:t>stabilité des valeurs,</a:t>
            </a:r>
            <a:endParaRPr lang="fr-FR" altLang="x-none" sz="1600" baseline="0" dirty="0">
              <a:latin typeface="Trebuchet MS" panose="020B0603020202020204" charset="0"/>
            </a:endParaRPr>
          </a:p>
          <a:p>
            <a:pPr marL="571500" indent="-569595" defTabSz="457200" hangingPunct="1">
              <a:lnSpc>
                <a:spcPct val="100000"/>
              </a:lnSpc>
              <a:buSzPct val="100000"/>
              <a:buFont typeface="Courier New" panose="02070309020205020404" pitchFamily="49" charset="0"/>
              <a:buChar char="o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fr-FR" altLang="x-none" sz="1600" baseline="0" dirty="0">
                <a:latin typeface="Trebuchet MS" panose="020B0603020202020204" charset="0"/>
              </a:rPr>
              <a:t>robustesse de la classification.</a:t>
            </a:r>
            <a:endParaRPr lang="fr-FR" altLang="x-none" sz="1600" baseline="0" dirty="0">
              <a:latin typeface="Trebuchet MS" panose="020B0603020202020204" charset="0"/>
            </a:endParaRP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296" y="4577398"/>
            <a:ext cx="367903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x-none" sz="1600" b="1" baseline="0" dirty="0">
                <a:solidFill>
                  <a:srgbClr val="215828"/>
                </a:solidFill>
                <a:latin typeface="Sitka Small Semibold" pitchFamily="2" charset="0"/>
              </a:rPr>
              <a:t>Choix de la normalisation:</a:t>
            </a:r>
            <a:endParaRPr lang="en-US" altLang="x-none" sz="1600" b="1" baseline="0" dirty="0">
              <a:solidFill>
                <a:srgbClr val="215828"/>
              </a:solidFill>
              <a:latin typeface="Sitka Small Semibold" pitchFamily="2" charset="0"/>
            </a:endParaRP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00063" y="4959742"/>
            <a:ext cx="9772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3895" defTabSz="457200" hangingPunct="1">
              <a:lnSpc>
                <a:spcPct val="100000"/>
              </a:lnSpc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  <a:tab pos="10134600" algn="l"/>
                <a:tab pos="10858500" algn="l"/>
                <a:tab pos="11582400" algn="l"/>
                <a:tab pos="12306300" algn="l"/>
              </a:tabLst>
            </a:pPr>
            <a:r>
              <a:rPr lang="fr-FR" altLang="x-none" baseline="0" dirty="0">
                <a:solidFill>
                  <a:srgbClr val="236292"/>
                </a:solidFill>
                <a:latin typeface="Trebuchet MS" panose="020B0603020202020204" charset="0"/>
              </a:rPr>
              <a:t>Nous appliquons deux normalisations :</a:t>
            </a:r>
            <a:endParaRPr lang="fr-FR" altLang="x-none" baseline="0" dirty="0">
              <a:solidFill>
                <a:srgbClr val="236292"/>
              </a:solidFill>
              <a:latin typeface="Trebuchet MS" panose="020B0603020202020204" charset="0"/>
            </a:endParaRPr>
          </a:p>
          <a:p>
            <a:pPr marL="685800" indent="-683895" defTabSz="457200" hangingPunct="1">
              <a:lnSpc>
                <a:spcPct val="100000"/>
              </a:lnSpc>
              <a:buSzPct val="100000"/>
              <a:buFont typeface="Times New Roman" panose="02020603050405020304" pitchFamily="16" charset="0"/>
              <a:buAutoNum type="arabicParenR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  <a:tab pos="10134600" algn="l"/>
                <a:tab pos="10858500" algn="l"/>
                <a:tab pos="11582400" algn="l"/>
                <a:tab pos="12306300" algn="l"/>
              </a:tabLst>
            </a:pPr>
            <a:r>
              <a:rPr lang="fr-FR" altLang="x-none" baseline="0" dirty="0">
                <a:latin typeface="Trebuchet MS" panose="020B0603020202020204" charset="0"/>
              </a:rPr>
              <a:t>Normalisation par le maximum </a:t>
            </a:r>
            <a:r>
              <a:rPr lang="en-US" altLang="x-none" baseline="0" dirty="0">
                <a:latin typeface="Trebuchet MS" panose="020B0603020202020204" charset="0"/>
              </a:rPr>
              <a:t>​</a:t>
            </a:r>
            <a:r>
              <a:rPr lang="fr-FR" altLang="x-none" b="1" baseline="0" dirty="0">
                <a:latin typeface="Trebuchet MS" panose="020B0603020202020204" charset="0"/>
              </a:rPr>
              <a:t>   </a:t>
            </a:r>
            <a:r>
              <a:rPr lang="fr-FR" altLang="x-none" b="1" baseline="0" dirty="0">
                <a:latin typeface="Wingdings" panose="05000000000000000000" charset="0"/>
              </a:rPr>
              <a:t></a:t>
            </a:r>
            <a:r>
              <a:rPr lang="fr-FR" altLang="x-none" baseline="0" dirty="0">
                <a:latin typeface="Trebuchet MS" panose="020B0603020202020204" charset="0"/>
              </a:rPr>
              <a:t>Compense les différences d’intensité entre enregistrements.</a:t>
            </a:r>
            <a:endParaRPr lang="fr-FR" altLang="x-none" baseline="0" dirty="0">
              <a:latin typeface="Trebuchet MS" panose="020B0603020202020204" charset="0"/>
            </a:endParaRPr>
          </a:p>
          <a:p>
            <a:pPr marL="685800" indent="-683895" defTabSz="457200" hangingPunct="1">
              <a:lnSpc>
                <a:spcPct val="100000"/>
              </a:lnSpc>
              <a:buSzPct val="100000"/>
              <a:buFont typeface="Times New Roman" panose="02020603050405020304" pitchFamily="16" charset="0"/>
              <a:buAutoNum type="arabicParenR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  <a:tab pos="10134600" algn="l"/>
                <a:tab pos="10858500" algn="l"/>
                <a:tab pos="11582400" algn="l"/>
                <a:tab pos="12306300" algn="l"/>
              </a:tabLst>
            </a:pPr>
            <a:r>
              <a:rPr lang="fr-FR" altLang="x-none" baseline="0" dirty="0">
                <a:latin typeface="Trebuchet MS" panose="020B0603020202020204" charset="0"/>
              </a:rPr>
              <a:t>Passage en échelle logarithmique </a:t>
            </a:r>
            <a:r>
              <a:rPr lang="en-US" altLang="x-none" baseline="0" dirty="0">
                <a:solidFill>
                  <a:srgbClr val="836967"/>
                </a:solidFill>
                <a:latin typeface="Trebuchet MS" panose="020B0603020202020204" charset="0"/>
              </a:rPr>
              <a:t> </a:t>
            </a:r>
            <a:r>
              <a:rPr lang="fr-FR" altLang="x-none" baseline="0" dirty="0">
                <a:latin typeface="Trebuchet MS" panose="020B0603020202020204" charset="0"/>
              </a:rPr>
              <a:t> :</a:t>
            </a:r>
            <a:endParaRPr lang="fr-FR" altLang="x-none" baseline="0" dirty="0">
              <a:latin typeface="Trebuchet MS" panose="020B0603020202020204" charset="0"/>
            </a:endParaRPr>
          </a:p>
          <a:p>
            <a:pPr marL="685800" indent="-683895" defTabSz="457200" hangingPunct="1">
              <a:lnSpc>
                <a:spcPct val="100000"/>
              </a:lnSpc>
              <a:buClrTx/>
              <a:buSz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  <a:tab pos="10134600" algn="l"/>
                <a:tab pos="10858500" algn="l"/>
                <a:tab pos="11582400" algn="l"/>
                <a:tab pos="12306300" algn="l"/>
              </a:tabLst>
            </a:pPr>
            <a:r>
              <a:rPr lang="fr-FR" altLang="x-none" baseline="0" dirty="0">
                <a:latin typeface="Trebuchet MS" panose="020B0603020202020204" charset="0"/>
              </a:rPr>
              <a:t>			</a:t>
            </a:r>
            <a:r>
              <a:rPr lang="fr-FR" altLang="x-none" baseline="0" dirty="0">
                <a:latin typeface="Wingdings" panose="05000000000000000000" charset="0"/>
              </a:rPr>
              <a:t></a:t>
            </a:r>
            <a:r>
              <a:rPr lang="fr-FR" altLang="x-none" baseline="0" dirty="0">
                <a:latin typeface="Trebuchet MS" panose="020B0603020202020204" charset="0"/>
              </a:rPr>
              <a:t>  Permet d’amplifier les faibles variations entre harmoniques</a:t>
            </a:r>
            <a:br>
              <a:rPr lang="fr-FR" altLang="x-none" baseline="0" dirty="0">
                <a:latin typeface="Trebuchet MS" panose="020B0603020202020204" charset="0"/>
              </a:rPr>
            </a:br>
            <a:r>
              <a:rPr lang="fr-FR" altLang="x-none" baseline="0" dirty="0">
                <a:latin typeface="Trebuchet MS" panose="020B0603020202020204" charset="0"/>
              </a:rPr>
              <a:t>		</a:t>
            </a:r>
            <a:r>
              <a:rPr lang="fr-FR" altLang="x-none" baseline="0" dirty="0">
                <a:latin typeface="Wingdings" panose="05000000000000000000" charset="0"/>
              </a:rPr>
              <a:t></a:t>
            </a:r>
            <a:r>
              <a:rPr lang="fr-FR" altLang="x-none" baseline="0" dirty="0">
                <a:latin typeface="Trebuchet MS" panose="020B0603020202020204" charset="0"/>
              </a:rPr>
              <a:t> Rend les signatures des voyelles plus </a:t>
            </a:r>
            <a:r>
              <a:rPr lang="fr-FR" altLang="x-none" b="1" baseline="0" dirty="0">
                <a:latin typeface="Trebuchet MS" panose="020B0603020202020204" charset="0"/>
              </a:rPr>
              <a:t>faciles à comparer</a:t>
            </a:r>
            <a:r>
              <a:rPr lang="fr-FR" altLang="x-none" baseline="0" dirty="0">
                <a:latin typeface="Trebuchet MS" panose="020B0603020202020204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/>
          <p:cNvSpPr txBox="1"/>
          <p:nvPr/>
        </p:nvSpPr>
        <p:spPr>
          <a:xfrm>
            <a:off x="2611828" y="-31418"/>
            <a:ext cx="6446446" cy="461662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Arial Black" panose="020B0A04020102020204" pitchFamily="34"/>
              </a:rPr>
              <a:t>Présentation et analyse des résultats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rial Black" panose="020B0A04020102020204" pitchFamily="34"/>
            </a:endParaRPr>
          </a:p>
        </p:txBody>
      </p:sp>
      <p:sp>
        <p:nvSpPr>
          <p:cNvPr id="3" name="TextBox 9"/>
          <p:cNvSpPr txBox="1"/>
          <p:nvPr/>
        </p:nvSpPr>
        <p:spPr>
          <a:xfrm>
            <a:off x="190881" y="611660"/>
            <a:ext cx="4063666" cy="584777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>
                <a:solidFill>
                  <a:srgbClr val="174A35"/>
                </a:solidFill>
                <a:uFillTx/>
                <a:latin typeface="Lucida Sans" panose="020B0602030504020204" pitchFamily="34"/>
              </a:rPr>
              <a:t>1) Numéro du signal et voyelle identifiée:</a:t>
            </a:r>
            <a:endParaRPr lang="en-US" sz="1600" b="1" i="0" u="none" strike="noStrike" kern="1200" cap="none" spc="0" baseline="0">
              <a:solidFill>
                <a:srgbClr val="174A35"/>
              </a:solidFill>
              <a:uFillTx/>
              <a:latin typeface="Lucida Sans" panose="020B0602030504020204" pitchFamily="34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190881" y="1269324"/>
            <a:ext cx="3920023" cy="658953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Le signal analysé est :</a:t>
            </a:r>
            <a:b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</a:b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		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Wingdings" panose="05000000000000000000" pitchFamily="2"/>
              </a:rPr>
              <a:t>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 </a:t>
            </a: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signal_4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</p:txBody>
      </p:sp>
      <p:graphicFrame>
        <p:nvGraphicFramePr>
          <p:cNvPr id="5" name="Table 12"/>
          <p:cNvGraphicFramePr>
            <a:graphicFrameLocks noGrp="1"/>
          </p:cNvGraphicFramePr>
          <p:nvPr/>
        </p:nvGraphicFramePr>
        <p:xfrm>
          <a:off x="4306019" y="946923"/>
          <a:ext cx="4063666" cy="2245854"/>
        </p:xfrm>
        <a:graphic>
          <a:graphicData uri="http://schemas.openxmlformats.org/drawingml/2006/table">
            <a:tbl>
              <a:tblPr firstRow="1" bandRow="1">
                <a:effectLst/>
                <a:tableStyleId>{00A15C55-8517-42AA-B614-E9B94910E393}</a:tableStyleId>
              </a:tblPr>
              <a:tblGrid>
                <a:gridCol w="2031833"/>
                <a:gridCol w="2031833"/>
              </a:tblGrid>
              <a:tr h="374309">
                <a:tc>
                  <a:txBody>
                    <a:bodyPr/>
                    <a:lstStyle/>
                    <a:p>
                      <a:pPr lvl="0" algn="ctr"/>
                      <a:r>
                        <a:rPr lang="fr-FR" b="1"/>
                        <a:t>Voyelles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fr-FR" b="1" dirty="0"/>
                        <a:t>Distance</a:t>
                      </a:r>
                      <a:endParaRPr lang="en-US" b="1" dirty="0"/>
                    </a:p>
                  </a:txBody>
                  <a:tcPr/>
                </a:tc>
              </a:tr>
              <a:tr h="374309">
                <a:tc>
                  <a:txBody>
                    <a:bodyPr/>
                    <a:lstStyle/>
                    <a:p>
                      <a:pPr lvl="0" algn="ctr"/>
                      <a:r>
                        <a:rPr lang="fr-FR" b="1">
                          <a:solidFill>
                            <a:srgbClr val="191919"/>
                          </a:solidFill>
                        </a:rPr>
                        <a:t>a </a:t>
                      </a:r>
                      <a:endParaRPr lang="en-US" b="1">
                        <a:solidFill>
                          <a:srgbClr val="19191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3.7345</a:t>
                      </a:r>
                      <a:endParaRPr lang="en-US" sz="1400" b="1" dirty="0">
                        <a:solidFill>
                          <a:srgbClr val="191919"/>
                        </a:solidFill>
                        <a:latin typeface="Lucida Sans" panose="020B0602030504020204" pitchFamily="34"/>
                      </a:endParaRPr>
                    </a:p>
                  </a:txBody>
                  <a:tcPr/>
                </a:tc>
              </a:tr>
              <a:tr h="374309">
                <a:tc>
                  <a:txBody>
                    <a:bodyPr/>
                    <a:lstStyle/>
                    <a:p>
                      <a:pPr lvl="0" algn="ctr"/>
                      <a:r>
                        <a:rPr lang="fr-FR" b="1">
                          <a:solidFill>
                            <a:srgbClr val="191919"/>
                          </a:solidFill>
                        </a:rPr>
                        <a:t>e </a:t>
                      </a:r>
                      <a:endParaRPr lang="en-US" b="1">
                        <a:solidFill>
                          <a:srgbClr val="19191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13.960</a:t>
                      </a:r>
                      <a:endParaRPr lang="en-US" sz="1400" b="1" dirty="0">
                        <a:solidFill>
                          <a:srgbClr val="191919"/>
                        </a:solidFill>
                        <a:latin typeface="Lucida Sans" panose="020B0602030504020204" pitchFamily="34"/>
                      </a:endParaRPr>
                    </a:p>
                  </a:txBody>
                  <a:tcPr/>
                </a:tc>
              </a:tr>
              <a:tr h="374309">
                <a:tc>
                  <a:txBody>
                    <a:bodyPr/>
                    <a:lstStyle/>
                    <a:p>
                      <a:pPr lvl="0" algn="ctr"/>
                      <a:r>
                        <a:rPr lang="fr-FR" b="1" dirty="0">
                          <a:solidFill>
                            <a:srgbClr val="191919"/>
                          </a:solidFill>
                        </a:rPr>
                        <a:t>i </a:t>
                      </a:r>
                      <a:endParaRPr lang="en-US" b="1" dirty="0">
                        <a:solidFill>
                          <a:srgbClr val="19191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37.274</a:t>
                      </a:r>
                      <a:endParaRPr lang="en-US" sz="1400" b="1" dirty="0">
                        <a:solidFill>
                          <a:srgbClr val="191919"/>
                        </a:solidFill>
                        <a:latin typeface="Lucida Sans" panose="020B0602030504020204" pitchFamily="34"/>
                      </a:endParaRPr>
                    </a:p>
                  </a:txBody>
                  <a:tcPr/>
                </a:tc>
              </a:tr>
              <a:tr h="374309">
                <a:tc>
                  <a:txBody>
                    <a:bodyPr/>
                    <a:lstStyle/>
                    <a:p>
                      <a:pPr lvl="0" algn="ctr"/>
                      <a:r>
                        <a:rPr lang="fr-FR" b="1">
                          <a:solidFill>
                            <a:srgbClr val="191919"/>
                          </a:solidFill>
                        </a:rPr>
                        <a:t>o </a:t>
                      </a:r>
                      <a:endParaRPr lang="en-US" b="1">
                        <a:solidFill>
                          <a:srgbClr val="19191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26.618</a:t>
                      </a:r>
                      <a:endParaRPr lang="en-US" sz="1400" b="1" dirty="0">
                        <a:solidFill>
                          <a:srgbClr val="191919"/>
                        </a:solidFill>
                        <a:latin typeface="Lucida Sans" panose="020B0602030504020204" pitchFamily="34"/>
                      </a:endParaRPr>
                    </a:p>
                  </a:txBody>
                  <a:tcPr/>
                </a:tc>
              </a:tr>
              <a:tr h="374309">
                <a:tc>
                  <a:txBody>
                    <a:bodyPr/>
                    <a:lstStyle/>
                    <a:p>
                      <a:pPr lvl="0" algn="ctr"/>
                      <a:r>
                        <a:rPr lang="fr-FR" b="1">
                          <a:solidFill>
                            <a:srgbClr val="191919"/>
                          </a:solidFill>
                        </a:rPr>
                        <a:t>u </a:t>
                      </a:r>
                      <a:endParaRPr lang="en-US" b="1">
                        <a:solidFill>
                          <a:srgbClr val="19191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34.966</a:t>
                      </a:r>
                      <a:endParaRPr lang="en-US" sz="1400" b="1" dirty="0">
                        <a:solidFill>
                          <a:srgbClr val="191919"/>
                        </a:solidFill>
                        <a:latin typeface="Lucida Sans" panose="020B0602030504020204" pitchFamily="3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14"/>
          <p:cNvSpPr txBox="1"/>
          <p:nvPr/>
        </p:nvSpPr>
        <p:spPr>
          <a:xfrm>
            <a:off x="0" y="2012850"/>
            <a:ext cx="4243776" cy="1446553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0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Les distances calculées avec les voyelles de la base d’apprentissage montrent que la plus petite valeur correspond à la voyelle  </a:t>
            </a:r>
            <a:r>
              <a:rPr lang="fr-FR" sz="1600" b="1" i="0" u="sng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a</a:t>
            </a:r>
            <a:endParaRPr lang="fr-FR" sz="1600" b="1" i="0" u="sng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i="0" u="none" strike="noStrike" kern="1200" cap="none" spc="0" baseline="0">
                <a:solidFill>
                  <a:srgbClr val="000000"/>
                </a:solidFill>
                <a:uFillTx/>
                <a:latin typeface="Wingdings" panose="05000000000000000000" pitchFamily="2"/>
              </a:rPr>
              <a:t></a:t>
            </a:r>
            <a:r>
              <a:rPr lang="fr-FR" sz="2000" b="1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 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Voyelle identifiée : </a:t>
            </a:r>
            <a:r>
              <a:rPr lang="en-US" sz="2400" b="1" i="0" u="sng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a</a:t>
            </a:r>
            <a:endParaRPr lang="en-US" sz="2400" b="1" i="0" u="sng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148260" y="3979852"/>
            <a:ext cx="3932240" cy="584777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>
                <a:solidFill>
                  <a:srgbClr val="174A35"/>
                </a:solidFill>
                <a:uFillTx/>
                <a:latin typeface="Lucida Sans" panose="020B0602030504020204" pitchFamily="34"/>
              </a:rPr>
              <a:t>2) Distance / similarité avec les voyelles de la base d’apprentissage</a:t>
            </a:r>
            <a:endParaRPr lang="en-US" sz="1600" b="1" i="0" u="none" strike="noStrike" kern="1200" cap="none" spc="0" baseline="0">
              <a:solidFill>
                <a:srgbClr val="174A35"/>
              </a:solidFill>
              <a:uFillTx/>
              <a:latin typeface="Lucida Sans" panose="020B0602030504020204" pitchFamily="34"/>
            </a:endParaRPr>
          </a:p>
        </p:txBody>
      </p:sp>
      <p:sp>
        <p:nvSpPr>
          <p:cNvPr id="9" name="TextBox 18"/>
          <p:cNvSpPr txBox="1"/>
          <p:nvPr/>
        </p:nvSpPr>
        <p:spPr>
          <a:xfrm>
            <a:off x="117857" y="5007656"/>
            <a:ext cx="3993047" cy="1077218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0" i="0" u="none" strike="noStrike" kern="1200" cap="none" spc="0" baseline="0">
                <a:solidFill>
                  <a:srgbClr val="000000"/>
                </a:solidFill>
                <a:uFillTx/>
                <a:latin typeface="Lucida Sans" panose="020B0602030504020204" pitchFamily="34"/>
              </a:rPr>
              <a:t>La distance représente la différence entre la signature harmonique du signal_4 et celle de chaque voyelle moyenne.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Lucida Sans" panose="020B0602030504020204" pitchFamily="34"/>
            </a:endParaRPr>
          </a:p>
        </p:txBody>
      </p:sp>
      <p:cxnSp>
        <p:nvCxnSpPr>
          <p:cNvPr id="10" name="Straight Connector 20"/>
          <p:cNvCxnSpPr/>
          <p:nvPr/>
        </p:nvCxnSpPr>
        <p:spPr>
          <a:xfrm>
            <a:off x="4243776" y="522415"/>
            <a:ext cx="0" cy="6335585"/>
          </a:xfrm>
          <a:prstGeom prst="straightConnector1">
            <a:avLst/>
          </a:prstGeom>
          <a:noFill/>
          <a:ln w="25402" cap="rnd">
            <a:solidFill>
              <a:srgbClr val="2E83C3"/>
            </a:solidFill>
            <a:prstDash val="solid"/>
          </a:ln>
          <a:effectLst>
            <a:outerShdw dist="25402" dir="5400000" algn="tl">
              <a:srgbClr val="000000">
                <a:alpha val="35000"/>
              </a:srgbClr>
            </a:outerShdw>
          </a:effectLst>
        </p:spPr>
      </p:cxnSp>
      <p:cxnSp>
        <p:nvCxnSpPr>
          <p:cNvPr id="11" name="Straight Connector 21"/>
          <p:cNvCxnSpPr/>
          <p:nvPr/>
        </p:nvCxnSpPr>
        <p:spPr>
          <a:xfrm>
            <a:off x="8369686" y="522415"/>
            <a:ext cx="0" cy="6335585"/>
          </a:xfrm>
          <a:prstGeom prst="straightConnector1">
            <a:avLst/>
          </a:prstGeom>
          <a:noFill/>
          <a:ln w="25402" cap="rnd">
            <a:solidFill>
              <a:srgbClr val="2E83C3"/>
            </a:solidFill>
            <a:prstDash val="solid"/>
          </a:ln>
          <a:effectLst>
            <a:outerShdw dist="25402" dir="5400000" algn="tl">
              <a:srgbClr val="000000">
                <a:alpha val="35000"/>
              </a:srgbClr>
            </a:outerShdw>
          </a:effectLst>
        </p:spPr>
      </p:cxnSp>
      <p:sp>
        <p:nvSpPr>
          <p:cNvPr id="12" name="TextBox 22"/>
          <p:cNvSpPr txBox="1"/>
          <p:nvPr/>
        </p:nvSpPr>
        <p:spPr>
          <a:xfrm>
            <a:off x="8872542" y="714375"/>
            <a:ext cx="2786057" cy="338556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Arial Black" panose="020B0A04020102020204" pitchFamily="34"/>
              </a:rPr>
              <a:t>3) Conclusion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  <a:latin typeface="Arial Black" panose="020B0A04020102020204" pitchFamily="34"/>
            </a:endParaRPr>
          </a:p>
        </p:txBody>
      </p:sp>
      <p:sp>
        <p:nvSpPr>
          <p:cNvPr id="13" name="TextBox 23"/>
          <p:cNvSpPr txBox="1"/>
          <p:nvPr/>
        </p:nvSpPr>
        <p:spPr>
          <a:xfrm>
            <a:off x="8501121" y="1401555"/>
            <a:ext cx="3487347" cy="3785652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L’analyse fréquentielle basée sur les 11 harmoniques normalisées permet de différencier efficacement les voyelles.</a:t>
            </a:r>
            <a:endParaRPr lang="fr-FR" sz="1600" b="1" i="0" u="none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Le signal_4 est clairement identifié comme la voyelle /a/ grâce à la distance minimale.</a:t>
            </a:r>
            <a:endParaRPr lang="fr-FR" sz="1600" b="1" i="0" u="none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>
                <a:solidFill>
                  <a:srgbClr val="000000"/>
                </a:solidFill>
                <a:uFillTx/>
                <a:latin typeface="Trebuchet MS" panose="020B0603020202020204"/>
              </a:rPr>
              <a:t>Les résultats sont cohérents, avec un écart significatif entre /a/ et les autres voyelles, confirmant la fiabilité de la classification.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  <a:latin typeface="Trebuchet MS" panose="020B0603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33006" y="316062"/>
            <a:ext cx="4074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0" i="0" dirty="0">
                <a:effectLst/>
                <a:latin typeface="Sitka Small Semibold" pitchFamily="2" charset="0"/>
              </a:rPr>
              <a:t>Distances euclidiennes NORMALISÉES (en dB)</a:t>
            </a:r>
            <a:endParaRPr lang="en-US" sz="1600" dirty="0">
              <a:latin typeface="Sitka Small Semibold" pitchFamily="2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47" y="3294381"/>
            <a:ext cx="4081259" cy="2902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2319</Words>
  <Application>WPS Presentation</Application>
  <PresentationFormat>Widescreen</PresentationFormat>
  <Paragraphs>267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5" baseType="lpstr">
      <vt:lpstr>Arial</vt:lpstr>
      <vt:lpstr>SimSun</vt:lpstr>
      <vt:lpstr>Wingdings</vt:lpstr>
      <vt:lpstr>Trebuchet MS</vt:lpstr>
      <vt:lpstr>Wingdings 3</vt:lpstr>
      <vt:lpstr>Arial</vt:lpstr>
      <vt:lpstr>Calibri</vt:lpstr>
      <vt:lpstr>Arial Black</vt:lpstr>
      <vt:lpstr>Wingdings</vt:lpstr>
      <vt:lpstr>Algerian</vt:lpstr>
      <vt:lpstr>Aldhabi</vt:lpstr>
      <vt:lpstr>Sitka Small Semibold</vt:lpstr>
      <vt:lpstr>Consolas</vt:lpstr>
      <vt:lpstr>Trebuchet MS</vt:lpstr>
      <vt:lpstr>Courier New</vt:lpstr>
      <vt:lpstr>Times New Roman</vt:lpstr>
      <vt:lpstr>Wingdings</vt:lpstr>
      <vt:lpstr>Lucida Sans</vt:lpstr>
      <vt:lpstr>Microsoft YaHei</vt:lpstr>
      <vt:lpstr>Arial Unicode MS</vt:lpstr>
      <vt:lpstr>Facet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SAN</dc:title>
  <dc:creator>Rayan SOUNI</dc:creator>
  <cp:lastModifiedBy>YASSINE ZAIR</cp:lastModifiedBy>
  <cp:revision>32</cp:revision>
  <dcterms:created xsi:type="dcterms:W3CDTF">2025-11-25T11:48:00Z</dcterms:created>
  <dcterms:modified xsi:type="dcterms:W3CDTF">2025-11-27T20:27:37Z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5EF8B01E0D7C4EC6817EB28BC7BBEEA3_12</vt:lpwstr>
  </property>
  <property fmtid="{D5CDD505-2E9C-101B-9397-08002B2CF9AE}" pid="3" name="KSOProductBuildVer">
    <vt:lpwstr>1036-12.2.0.23155</vt:lpwstr>
  </property>
</Properties>
</file>